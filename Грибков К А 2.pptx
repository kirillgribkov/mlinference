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67" r:id="rId5"/>
    <p:sldId id="263" r:id="rId6"/>
    <p:sldId id="277" r:id="rId7"/>
    <p:sldId id="278" r:id="rId8"/>
    <p:sldId id="264" r:id="rId9"/>
    <p:sldId id="269" r:id="rId10"/>
    <p:sldId id="270" r:id="rId11"/>
    <p:sldId id="271" r:id="rId12"/>
    <p:sldId id="273" r:id="rId13"/>
    <p:sldId id="272" r:id="rId14"/>
    <p:sldId id="274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5B1"/>
    <a:srgbClr val="C074D8"/>
    <a:srgbClr val="E6E6E6"/>
    <a:srgbClr val="7160D1"/>
    <a:srgbClr val="3E64DA"/>
    <a:srgbClr val="333EC7"/>
    <a:srgbClr val="FFFFFF"/>
    <a:srgbClr val="252CB1"/>
    <a:srgbClr val="BA3C63"/>
    <a:srgbClr val="E6D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3" autoAdjust="0"/>
    <p:restoredTop sz="94660" autoAdjust="0"/>
  </p:normalViewPr>
  <p:slideViewPr>
    <p:cSldViewPr snapToGrid="0" showGuides="1">
      <p:cViewPr varScale="1">
        <p:scale>
          <a:sx n="82" d="100"/>
          <a:sy n="82" d="100"/>
        </p:scale>
        <p:origin x="108" y="18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7AB5187-0CE0-40DB-91C9-657F0AB02D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94E1EA-C093-47BE-9655-24A6349B6D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5022-96C1-4A30-B3BD-7892E1C14C40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69FA7F-74DA-488A-9B0D-25B5F6E68D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5C5783-6D63-4D3C-A183-1624CA3452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54AC-7020-46ED-9CA5-D627D8DCB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8738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F4841-BE9B-4A6B-B45F-4A82F89BB95D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4E9DE-C71A-4B58-BB1E-F0FAA177B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1720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w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2883975"/>
            <a:ext cx="10515600" cy="85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</a:t>
            </a:r>
          </a:p>
          <a:p>
            <a:pPr lvl="0"/>
            <a:r>
              <a:rPr lang="ru-RU" dirty="0"/>
              <a:t>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875494"/>
            <a:ext cx="5678488" cy="37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60988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428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2883975"/>
            <a:ext cx="10515600" cy="85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</a:t>
            </a:r>
          </a:p>
          <a:p>
            <a:pPr lvl="0"/>
            <a:r>
              <a:rPr lang="ru-RU" dirty="0"/>
              <a:t>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4684059" y="4875494"/>
            <a:ext cx="5678488" cy="37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5" hasCustomPrompt="1"/>
          </p:nvPr>
        </p:nvSpPr>
        <p:spPr>
          <a:xfrm>
            <a:off x="4684059" y="5360988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4169802"/>
            <a:ext cx="2554288" cy="23932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Фото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81832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364"/>
            <a:ext cx="10515600" cy="3836988"/>
          </a:xfrm>
          <a:prstGeom prst="rect">
            <a:avLst/>
          </a:prstGeom>
        </p:spPr>
        <p:txBody>
          <a:bodyPr/>
          <a:lstStyle>
            <a:lvl1pPr marL="457200" indent="-457200">
              <a:buAutoNum type="arabicPeriod"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55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4645818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0" name="Текст 7"/>
          <p:cNvSpPr>
            <a:spLocks noGrp="1"/>
          </p:cNvSpPr>
          <p:nvPr>
            <p:ph type="body" sz="quarter" idx="13" hasCustomPrompt="1"/>
          </p:nvPr>
        </p:nvSpPr>
        <p:spPr>
          <a:xfrm>
            <a:off x="4645818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8453437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8453437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8" hasCustomPrompt="1"/>
          </p:nvPr>
        </p:nvSpPr>
        <p:spPr>
          <a:xfrm>
            <a:off x="4645818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19" hasCustomPrompt="1"/>
          </p:nvPr>
        </p:nvSpPr>
        <p:spPr>
          <a:xfrm>
            <a:off x="4645818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20" hasCustomPrompt="1"/>
          </p:nvPr>
        </p:nvSpPr>
        <p:spPr>
          <a:xfrm>
            <a:off x="8453437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8453437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22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337350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/>
          <p:cNvSpPr>
            <a:spLocks noGrp="1"/>
          </p:cNvSpPr>
          <p:nvPr>
            <p:ph type="body" sz="quarter" idx="16" hasCustomPrompt="1"/>
          </p:nvPr>
        </p:nvSpPr>
        <p:spPr>
          <a:xfrm>
            <a:off x="838199" y="3603438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838199" y="4113679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14" name="Текст 4"/>
          <p:cNvSpPr>
            <a:spLocks noGrp="1"/>
          </p:cNvSpPr>
          <p:nvPr>
            <p:ph type="body" sz="quarter" idx="20" hasCustomPrompt="1"/>
          </p:nvPr>
        </p:nvSpPr>
        <p:spPr>
          <a:xfrm>
            <a:off x="6893859" y="3603438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6893859" y="4113679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2" hasCustomPrompt="1"/>
          </p:nvPr>
        </p:nvSpPr>
        <p:spPr>
          <a:xfrm>
            <a:off x="838199" y="1566863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23" hasCustomPrompt="1"/>
          </p:nvPr>
        </p:nvSpPr>
        <p:spPr>
          <a:xfrm>
            <a:off x="838199" y="2077104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0" name="Текст 4"/>
          <p:cNvSpPr>
            <a:spLocks noGrp="1"/>
          </p:cNvSpPr>
          <p:nvPr>
            <p:ph type="body" sz="quarter" idx="24" hasCustomPrompt="1"/>
          </p:nvPr>
        </p:nvSpPr>
        <p:spPr>
          <a:xfrm>
            <a:off x="6893859" y="1566863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22" name="Текст 7"/>
          <p:cNvSpPr>
            <a:spLocks noGrp="1"/>
          </p:cNvSpPr>
          <p:nvPr>
            <p:ph type="body" sz="quarter" idx="25" hasCustomPrompt="1"/>
          </p:nvPr>
        </p:nvSpPr>
        <p:spPr>
          <a:xfrm>
            <a:off x="6893859" y="2077104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267922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для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838199" y="2391148"/>
            <a:ext cx="7095565" cy="1325563"/>
          </a:xfrm>
          <a:prstGeom prst="rect">
            <a:avLst/>
          </a:prstGeo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3716711"/>
            <a:ext cx="7095565" cy="1339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3435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362"/>
            <a:ext cx="10515600" cy="38369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 всех слайдах используйте один и тот же шрифт: </a:t>
            </a:r>
            <a:br>
              <a:rPr lang="ru-RU" dirty="0"/>
            </a:br>
            <a:r>
              <a:rPr lang="ru-RU" dirty="0"/>
              <a:t>для заголовков –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36 пунктов, </a:t>
            </a:r>
            <a:br>
              <a:rPr lang="ru-RU" dirty="0"/>
            </a:br>
            <a:r>
              <a:rPr lang="ru-RU" dirty="0"/>
              <a:t>для подзаголовков – </a:t>
            </a:r>
            <a:r>
              <a:rPr lang="en-US" dirty="0" err="1"/>
              <a:t>Roboto</a:t>
            </a:r>
            <a:r>
              <a:rPr lang="en-US" dirty="0"/>
              <a:t> </a:t>
            </a:r>
            <a:r>
              <a:rPr lang="ru-RU" dirty="0"/>
              <a:t>24 пункта или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24-28 пунктов </a:t>
            </a:r>
            <a:br>
              <a:rPr lang="ru-RU" dirty="0"/>
            </a:br>
            <a:r>
              <a:rPr lang="ru-RU" dirty="0"/>
              <a:t>(для акцента),  </a:t>
            </a:r>
            <a:br>
              <a:rPr lang="ru-RU" dirty="0"/>
            </a:br>
            <a:r>
              <a:rPr lang="ru-RU" dirty="0"/>
              <a:t>для основного текста – </a:t>
            </a:r>
            <a:r>
              <a:rPr lang="en-US" dirty="0" err="1"/>
              <a:t>Roboto</a:t>
            </a:r>
            <a:r>
              <a:rPr lang="ru-RU" dirty="0"/>
              <a:t> 20 пунктов. </a:t>
            </a:r>
          </a:p>
          <a:p>
            <a:pPr lvl="0"/>
            <a:r>
              <a:rPr lang="ru-RU" dirty="0"/>
              <a:t>Если текст не помещается на слайд, не стоит уменьшать шрифт. Сделайте текст лаконичнее или разбейте слайд на два. </a:t>
            </a:r>
            <a:br>
              <a:rPr lang="ru-RU" dirty="0"/>
            </a:br>
            <a:r>
              <a:rPr lang="ru-RU" dirty="0"/>
              <a:t>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826323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21051"/>
            <a:ext cx="10515600" cy="38369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 всех слайдах используйте один и тот же шрифт: </a:t>
            </a:r>
            <a:br>
              <a:rPr lang="ru-RU" dirty="0"/>
            </a:br>
            <a:r>
              <a:rPr lang="ru-RU" dirty="0"/>
              <a:t>для заголовков –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36 пунктов, </a:t>
            </a:r>
            <a:br>
              <a:rPr lang="ru-RU" dirty="0"/>
            </a:br>
            <a:r>
              <a:rPr lang="ru-RU" dirty="0"/>
              <a:t>для подзаголовков – </a:t>
            </a:r>
            <a:r>
              <a:rPr lang="en-US" dirty="0" err="1"/>
              <a:t>Roboto</a:t>
            </a:r>
            <a:r>
              <a:rPr lang="en-US" dirty="0"/>
              <a:t> </a:t>
            </a:r>
            <a:r>
              <a:rPr lang="ru-RU" dirty="0"/>
              <a:t>24 пункта или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24-28 пунктов </a:t>
            </a:r>
            <a:br>
              <a:rPr lang="ru-RU" dirty="0"/>
            </a:br>
            <a:r>
              <a:rPr lang="ru-RU" dirty="0"/>
              <a:t>(для акцента),  </a:t>
            </a:r>
            <a:br>
              <a:rPr lang="ru-RU" dirty="0"/>
            </a:br>
            <a:r>
              <a:rPr lang="ru-RU" dirty="0"/>
              <a:t>для основного текста – </a:t>
            </a:r>
            <a:r>
              <a:rPr lang="en-US" dirty="0" err="1"/>
              <a:t>Roboto</a:t>
            </a:r>
            <a:r>
              <a:rPr lang="ru-RU" dirty="0"/>
              <a:t> 20 пунктов. </a:t>
            </a:r>
          </a:p>
          <a:p>
            <a:pPr lvl="0"/>
            <a:r>
              <a:rPr lang="ru-RU" dirty="0"/>
              <a:t>Если текст не помещается на слайд, не стоит уменьшать шрифт. Сделайте текст лаконичнее или разбейте слайд на два. </a:t>
            </a:r>
            <a:br>
              <a:rPr lang="ru-RU" dirty="0"/>
            </a:br>
            <a:r>
              <a:rPr lang="ru-RU" dirty="0"/>
              <a:t>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15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148"/>
            <a:ext cx="10515600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177701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1098"/>
            <a:ext cx="10515600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94678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931101"/>
            <a:ext cx="4737847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6651812" y="1931101"/>
            <a:ext cx="4701988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9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6160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36" y="1927156"/>
            <a:ext cx="1085090" cy="108204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828" y="1927156"/>
            <a:ext cx="1085090" cy="108204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20" y="1927156"/>
            <a:ext cx="1085090" cy="10820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612" y="1927156"/>
            <a:ext cx="1085090" cy="1082042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1" name="Текст 3"/>
          <p:cNvSpPr>
            <a:spLocks noGrp="1"/>
          </p:cNvSpPr>
          <p:nvPr>
            <p:ph type="body" sz="quarter" idx="11" hasCustomPrompt="1"/>
          </p:nvPr>
        </p:nvSpPr>
        <p:spPr>
          <a:xfrm>
            <a:off x="3643587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quarter" idx="12" hasCustomPrompt="1"/>
          </p:nvPr>
        </p:nvSpPr>
        <p:spPr>
          <a:xfrm>
            <a:off x="6522763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3" name="Текст 3"/>
          <p:cNvSpPr>
            <a:spLocks noGrp="1"/>
          </p:cNvSpPr>
          <p:nvPr>
            <p:ph type="body" sz="quarter" idx="13" hasCustomPrompt="1"/>
          </p:nvPr>
        </p:nvSpPr>
        <p:spPr>
          <a:xfrm>
            <a:off x="9328150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4" hasCustomPrompt="1"/>
          </p:nvPr>
        </p:nvSpPr>
        <p:spPr>
          <a:xfrm>
            <a:off x="1537675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17" name="Текст 14"/>
          <p:cNvSpPr>
            <a:spLocks noGrp="1"/>
          </p:cNvSpPr>
          <p:nvPr>
            <p:ph type="body" sz="quarter" idx="15" hasCustomPrompt="1"/>
          </p:nvPr>
        </p:nvSpPr>
        <p:spPr>
          <a:xfrm>
            <a:off x="4354067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8" name="Текст 14"/>
          <p:cNvSpPr>
            <a:spLocks noGrp="1"/>
          </p:cNvSpPr>
          <p:nvPr>
            <p:ph type="body" sz="quarter" idx="16" hasCustomPrompt="1"/>
          </p:nvPr>
        </p:nvSpPr>
        <p:spPr>
          <a:xfrm>
            <a:off x="7170459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9" name="Текст 14"/>
          <p:cNvSpPr>
            <a:spLocks noGrp="1"/>
          </p:cNvSpPr>
          <p:nvPr>
            <p:ph type="body" sz="quarter" idx="17" hasCustomPrompt="1"/>
          </p:nvPr>
        </p:nvSpPr>
        <p:spPr>
          <a:xfrm>
            <a:off x="9986851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20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790313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27470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0" name="Текст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3926599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1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2124636" y="1927470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2124636" y="3926599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8"/>
          <p:cNvSpPr>
            <a:spLocks noGrp="1"/>
          </p:cNvSpPr>
          <p:nvPr>
            <p:ph type="body" sz="quarter" idx="14" hasCustomPrompt="1"/>
          </p:nvPr>
        </p:nvSpPr>
        <p:spPr>
          <a:xfrm>
            <a:off x="6517340" y="1927470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4" name="Текст 8"/>
          <p:cNvSpPr>
            <a:spLocks noGrp="1"/>
          </p:cNvSpPr>
          <p:nvPr>
            <p:ph type="body" sz="quarter" idx="15" hasCustomPrompt="1"/>
          </p:nvPr>
        </p:nvSpPr>
        <p:spPr>
          <a:xfrm>
            <a:off x="6517339" y="3926599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5" name="Текст 8"/>
          <p:cNvSpPr>
            <a:spLocks noGrp="1"/>
          </p:cNvSpPr>
          <p:nvPr>
            <p:ph type="body" sz="quarter" idx="16" hasCustomPrompt="1"/>
          </p:nvPr>
        </p:nvSpPr>
        <p:spPr>
          <a:xfrm>
            <a:off x="7803776" y="1927470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8"/>
          <p:cNvSpPr>
            <a:spLocks noGrp="1"/>
          </p:cNvSpPr>
          <p:nvPr>
            <p:ph type="body" sz="quarter" idx="17" hasCustomPrompt="1"/>
          </p:nvPr>
        </p:nvSpPr>
        <p:spPr>
          <a:xfrm>
            <a:off x="7803776" y="3926599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1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737117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иллюст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838200" y="1570450"/>
            <a:ext cx="10515600" cy="3844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Иллюстрация или скриншот. Чтобы вставить изображение, нажмите на иконку в центре слайда, выберите нужный объект на устройстве и нажмите «Вставить». Если изображение встроилось не той частью или не с теми пропорциями, выделите его правой клавишей мыши и нажмите «Обрезка». Измените размер изображения или ту область, которая попадает в кадр.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248058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иллюст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838200" y="1932400"/>
            <a:ext cx="10515600" cy="3844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Иллюстрация или скриншот. Чтобы вставить изображение, нажмите на иконку в центре слайда, выберите нужный объект на устройстве и нажмите «Вставить». Если изображение встроилось не той частью или не с теми пропорциями, выделите его правой клавишей мыши и нажмите «Обрезка». Измените размер изображения или ту область, которая попадает в кадр.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65030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аблица 5"/>
          <p:cNvSpPr>
            <a:spLocks noGrp="1"/>
          </p:cNvSpPr>
          <p:nvPr>
            <p:ph type="tbl" sz="quarter" idx="12" hasCustomPrompt="1"/>
          </p:nvPr>
        </p:nvSpPr>
        <p:spPr>
          <a:xfrm>
            <a:off x="838200" y="1925327"/>
            <a:ext cx="10515600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таблицу, нажмите на иконку в центре слайда. Выберите количество строк и столбцов. Заполните таблицу данными и отредактируйте ее: избавьтесь от заливки, удалите внешние границы и внутренние вертикальные границы, внутренние горизонтальные границы сделайте деликатными, выровняйте текстовые данные по левому краю, а числовые – по правому, выделите самые важные данные и шапку таблицы.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5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96069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иаграмма 4"/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1925328"/>
            <a:ext cx="10515600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диаграмму, нажмите на иконку в центре слайда. Выберите тип диаграммы, заполните таблицу данными. Удалите с диаграммы линии сетки и шкалу значений. Подпишите точные значения рядом с сегментами, укрупните подписи. Аккуратно разместите подписи, чтобы они не пересекали диаграмму и были расположены горизонтально. Легенду переместите в область над диаграммой. Расставьте акценты с помощью цветов, представленных в палитре. Сделайте крупнее числовое значение рядом с главным сектором.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17937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а / таблица и комментари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933212"/>
            <a:ext cx="5267325" cy="3890962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15" hasCustomPrompt="1"/>
          </p:nvPr>
        </p:nvSpPr>
        <p:spPr>
          <a:xfrm>
            <a:off x="6464300" y="614"/>
            <a:ext cx="5727700" cy="644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Иллюстрация / скриншот / таблица / диаграмма</a:t>
            </a:r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5267325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801575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а / таблица и комментари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8" name="Объект 7"/>
          <p:cNvSpPr>
            <a:spLocks noGrp="1"/>
          </p:cNvSpPr>
          <p:nvPr>
            <p:ph sz="quarter" idx="14" hasCustomPrompt="1"/>
          </p:nvPr>
        </p:nvSpPr>
        <p:spPr>
          <a:xfrm>
            <a:off x="838200" y="1925815"/>
            <a:ext cx="5813425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Иллюстрация / скриншот / таблица / диаграмма</a:t>
            </a:r>
          </a:p>
        </p:txBody>
      </p:sp>
      <p:grpSp>
        <p:nvGrpSpPr>
          <p:cNvPr id="9" name="Группа 8"/>
          <p:cNvGrpSpPr/>
          <p:nvPr userDrawn="1"/>
        </p:nvGrpSpPr>
        <p:grpSpPr>
          <a:xfrm>
            <a:off x="7371310" y="1917857"/>
            <a:ext cx="876219" cy="1018276"/>
            <a:chOff x="6415853" y="1303510"/>
            <a:chExt cx="1082042" cy="1257468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853" y="1303510"/>
              <a:ext cx="1082042" cy="1082042"/>
            </a:xfrm>
            <a:prstGeom prst="rect">
              <a:avLst/>
            </a:prstGeom>
          </p:spPr>
        </p:pic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7929" y="2210124"/>
              <a:ext cx="632849" cy="350854"/>
            </a:xfrm>
            <a:prstGeom prst="rect">
              <a:avLst/>
            </a:prstGeom>
          </p:spPr>
        </p:pic>
      </p:grpSp>
      <p:grpSp>
        <p:nvGrpSpPr>
          <p:cNvPr id="12" name="Группа 11"/>
          <p:cNvGrpSpPr/>
          <p:nvPr userDrawn="1"/>
        </p:nvGrpSpPr>
        <p:grpSpPr>
          <a:xfrm>
            <a:off x="7371310" y="3448707"/>
            <a:ext cx="876219" cy="1018276"/>
            <a:chOff x="3563497" y="1303510"/>
            <a:chExt cx="1082042" cy="1257468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497" y="1303510"/>
              <a:ext cx="1082042" cy="1082042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5573" y="2210124"/>
              <a:ext cx="632849" cy="350854"/>
            </a:xfrm>
            <a:prstGeom prst="rect">
              <a:avLst/>
            </a:prstGeom>
          </p:spPr>
        </p:pic>
      </p:grpSp>
      <p:grpSp>
        <p:nvGrpSpPr>
          <p:cNvPr id="15" name="Группа 14"/>
          <p:cNvGrpSpPr/>
          <p:nvPr userDrawn="1"/>
        </p:nvGrpSpPr>
        <p:grpSpPr>
          <a:xfrm>
            <a:off x="7371310" y="4979557"/>
            <a:ext cx="876219" cy="1018276"/>
            <a:chOff x="711141" y="1303510"/>
            <a:chExt cx="1082042" cy="1257468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41" y="1303510"/>
              <a:ext cx="1082042" cy="1082042"/>
            </a:xfrm>
            <a:prstGeom prst="rect">
              <a:avLst/>
            </a:prstGeom>
          </p:spPr>
        </p:pic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41" y="2210124"/>
              <a:ext cx="632849" cy="350854"/>
            </a:xfrm>
            <a:prstGeom prst="rect">
              <a:avLst/>
            </a:prstGeom>
          </p:spPr>
        </p:pic>
      </p:grpSp>
      <p:sp>
        <p:nvSpPr>
          <p:cNvPr id="22" name="Текст 21"/>
          <p:cNvSpPr>
            <a:spLocks noGrp="1"/>
          </p:cNvSpPr>
          <p:nvPr>
            <p:ph type="body" sz="quarter" idx="15" hasCustomPrompt="1"/>
          </p:nvPr>
        </p:nvSpPr>
        <p:spPr>
          <a:xfrm>
            <a:off x="7494588" y="2026298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3" name="Текст 21"/>
          <p:cNvSpPr>
            <a:spLocks noGrp="1"/>
          </p:cNvSpPr>
          <p:nvPr>
            <p:ph type="body" sz="quarter" idx="16" hasCustomPrompt="1"/>
          </p:nvPr>
        </p:nvSpPr>
        <p:spPr>
          <a:xfrm>
            <a:off x="7494587" y="3557392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21"/>
          <p:cNvSpPr>
            <a:spLocks noGrp="1"/>
          </p:cNvSpPr>
          <p:nvPr>
            <p:ph type="body" sz="quarter" idx="17" hasCustomPrompt="1"/>
          </p:nvPr>
        </p:nvSpPr>
        <p:spPr>
          <a:xfrm>
            <a:off x="7494587" y="5092458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6" name="Текст 25"/>
          <p:cNvSpPr>
            <a:spLocks noGrp="1"/>
          </p:cNvSpPr>
          <p:nvPr>
            <p:ph type="body" sz="quarter" idx="18" hasCustomPrompt="1"/>
          </p:nvPr>
        </p:nvSpPr>
        <p:spPr>
          <a:xfrm>
            <a:off x="8463056" y="2073922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7" name="Текст 25"/>
          <p:cNvSpPr>
            <a:spLocks noGrp="1"/>
          </p:cNvSpPr>
          <p:nvPr>
            <p:ph type="body" sz="quarter" idx="19" hasCustomPrompt="1"/>
          </p:nvPr>
        </p:nvSpPr>
        <p:spPr>
          <a:xfrm>
            <a:off x="8463056" y="3601171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8" name="Текст 25"/>
          <p:cNvSpPr>
            <a:spLocks noGrp="1"/>
          </p:cNvSpPr>
          <p:nvPr>
            <p:ph type="body" sz="quarter" idx="20" hasCustomPrompt="1"/>
          </p:nvPr>
        </p:nvSpPr>
        <p:spPr>
          <a:xfrm>
            <a:off x="8463056" y="5140082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0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72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4" name="Рисунок 3"/>
          <p:cNvSpPr>
            <a:spLocks noGrp="1"/>
          </p:cNvSpPr>
          <p:nvPr>
            <p:ph type="pic" sz="quarter" idx="13" hasCustomPrompt="1"/>
          </p:nvPr>
        </p:nvSpPr>
        <p:spPr>
          <a:xfrm>
            <a:off x="838199" y="4169802"/>
            <a:ext cx="2554288" cy="23932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QR-</a:t>
            </a:r>
            <a:r>
              <a:rPr lang="ru-RU" dirty="0"/>
              <a:t>код со ссылкой на презентацию / доп. материалы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388223" y="4643438"/>
            <a:ext cx="5678488" cy="3762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Имя и фамилия спикера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4388223" y="5127625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5325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68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53" r:id="rId3"/>
    <p:sldLayoutId id="2147483655" r:id="rId4"/>
    <p:sldLayoutId id="2147483659" r:id="rId5"/>
    <p:sldLayoutId id="2147483654" r:id="rId6"/>
    <p:sldLayoutId id="2147483650" r:id="rId7"/>
    <p:sldLayoutId id="2147483669" r:id="rId8"/>
    <p:sldLayoutId id="2147483656" r:id="rId9"/>
    <p:sldLayoutId id="2147483670" r:id="rId10"/>
    <p:sldLayoutId id="2147483657" r:id="rId11"/>
    <p:sldLayoutId id="2147483665" r:id="rId12"/>
    <p:sldLayoutId id="2147483658" r:id="rId13"/>
    <p:sldLayoutId id="2147483660" r:id="rId14"/>
    <p:sldLayoutId id="2147483671" r:id="rId15"/>
    <p:sldLayoutId id="2147483661" r:id="rId16"/>
    <p:sldLayoutId id="2147483662" r:id="rId17"/>
    <p:sldLayoutId id="2147483663" r:id="rId18"/>
    <p:sldLayoutId id="2147483664" r:id="rId19"/>
    <p:sldLayoutId id="214748366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8B0D5-0942-4EE7-7B89-B4C5A489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ML: </a:t>
            </a:r>
            <a:r>
              <a:rPr lang="ru-RU" dirty="0"/>
              <a:t>Путь от задачи до </a:t>
            </a:r>
            <a:r>
              <a:rPr lang="en-US" dirty="0"/>
              <a:t>MVP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1E64E7-E637-3DCE-4789-D28921DDD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 машинном обучении нет универсальных методов,</a:t>
            </a:r>
            <a:br>
              <a:rPr lang="ru-RU" dirty="0"/>
            </a:br>
            <a:r>
              <a:rPr lang="ru-RU" dirty="0"/>
              <a:t>решение каждой задачи индивидуально.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AFE8AC-5722-FF81-CC04-7BF5A26DFA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4058" y="4875494"/>
            <a:ext cx="5827699" cy="376238"/>
          </a:xfrm>
        </p:spPr>
        <p:txBody>
          <a:bodyPr/>
          <a:lstStyle/>
          <a:p>
            <a:r>
              <a:rPr lang="ru-RU" dirty="0"/>
              <a:t>Грибков Кирилл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75A786-7D99-6C0E-B747-C9F1831A54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Студент второго курса магистратуры</a:t>
            </a:r>
            <a:br>
              <a:rPr lang="ru-RU" dirty="0"/>
            </a:br>
            <a:r>
              <a:rPr lang="ru-RU" dirty="0"/>
              <a:t>Томского Государственного Университета Систем Управления и Радиоэлектроники </a:t>
            </a:r>
            <a:br>
              <a:rPr lang="ru-RU" dirty="0"/>
            </a:br>
            <a:r>
              <a:rPr lang="ru-RU" dirty="0"/>
              <a:t>г. Томск </a:t>
            </a:r>
          </a:p>
        </p:txBody>
      </p:sp>
    </p:spTree>
    <p:extLst>
      <p:ext uri="{BB962C8B-B14F-4D97-AF65-F5344CB8AC3E}">
        <p14:creationId xmlns:p14="http://schemas.microsoft.com/office/powerpoint/2010/main" val="1161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22"/>
          </p:nvPr>
        </p:nvSpPr>
        <p:spPr>
          <a:xfrm>
            <a:off x="1527654" y="1537833"/>
            <a:ext cx="7575818" cy="46628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Сбор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Очистка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Анализ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Обработка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Отбор  информативных признаков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Подбор </a:t>
            </a:r>
            <a:r>
              <a:rPr lang="ru-RU" dirty="0" err="1"/>
              <a:t>гиперпараметров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Ликвидация дисбаланса классов</a:t>
            </a: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1089529"/>
          </a:xfrm>
        </p:spPr>
        <p:txBody>
          <a:bodyPr/>
          <a:lstStyle/>
          <a:p>
            <a:r>
              <a:rPr lang="ru-RU" dirty="0"/>
              <a:t>Сбор, анализ и обработка набора данных</a:t>
            </a: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93293E55-C66E-5B6A-1FF4-6D1D1C5F2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28087"/>
            <a:ext cx="562304" cy="56072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1E2686E-3DA2-B275-4BAC-A954F557C51C}"/>
              </a:ext>
            </a:extLst>
          </p:cNvPr>
          <p:cNvSpPr txBox="1"/>
          <p:nvPr/>
        </p:nvSpPr>
        <p:spPr>
          <a:xfrm>
            <a:off x="965350" y="1585283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1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97C0817-DDAF-A809-29C7-D5017116B8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4418"/>
            <a:ext cx="562304" cy="56072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CCC9883-90B9-09F6-AE95-7D8BC135F550}"/>
              </a:ext>
            </a:extLst>
          </p:cNvPr>
          <p:cNvSpPr txBox="1"/>
          <p:nvPr/>
        </p:nvSpPr>
        <p:spPr>
          <a:xfrm>
            <a:off x="965350" y="2231614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2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E47E426-5B22-2B23-6885-7106584C58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24595"/>
            <a:ext cx="562304" cy="56072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A19E851-3DA0-1A1A-AB0B-02E833CF4534}"/>
              </a:ext>
            </a:extLst>
          </p:cNvPr>
          <p:cNvSpPr txBox="1"/>
          <p:nvPr/>
        </p:nvSpPr>
        <p:spPr>
          <a:xfrm>
            <a:off x="965350" y="2881791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3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5EF79933-6001-B1F4-9693-B6D9960FFC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22535"/>
            <a:ext cx="562304" cy="56072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EA503BF-6F57-1694-0C11-CF8E97253C10}"/>
              </a:ext>
            </a:extLst>
          </p:cNvPr>
          <p:cNvSpPr txBox="1"/>
          <p:nvPr/>
        </p:nvSpPr>
        <p:spPr>
          <a:xfrm>
            <a:off x="965350" y="3579731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4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E51B771-894D-C85B-5C09-72DA1A12C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20475"/>
            <a:ext cx="562304" cy="56072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E6C5E61-02CD-1374-8E45-3CDFEFD0C41C}"/>
              </a:ext>
            </a:extLst>
          </p:cNvPr>
          <p:cNvSpPr txBox="1"/>
          <p:nvPr/>
        </p:nvSpPr>
        <p:spPr>
          <a:xfrm>
            <a:off x="965350" y="4277671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5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14791B3-5F8A-C741-2A17-011D102F8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05136"/>
            <a:ext cx="562304" cy="56072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8E5AE07-A00C-AE5B-BEC9-984B19FB1364}"/>
              </a:ext>
            </a:extLst>
          </p:cNvPr>
          <p:cNvSpPr txBox="1"/>
          <p:nvPr/>
        </p:nvSpPr>
        <p:spPr>
          <a:xfrm>
            <a:off x="965350" y="4962332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6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DBE95771-0706-5B5F-1A18-65293A8071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689797"/>
            <a:ext cx="562304" cy="56072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EAD7423-6276-E280-FA7F-C98DE0133F29}"/>
              </a:ext>
            </a:extLst>
          </p:cNvPr>
          <p:cNvSpPr txBox="1"/>
          <p:nvPr/>
        </p:nvSpPr>
        <p:spPr>
          <a:xfrm>
            <a:off x="965350" y="5646993"/>
            <a:ext cx="30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7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790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AA48-CAD7-52A8-B0C7-F669EA48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47060A5C-38DA-B3DE-F976-B6C1D5882D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8199" y="1928602"/>
            <a:ext cx="8958944" cy="424732"/>
          </a:xfrm>
        </p:spPr>
        <p:txBody>
          <a:bodyPr/>
          <a:lstStyle/>
          <a:p>
            <a:r>
              <a:rPr lang="ru-RU" dirty="0"/>
              <a:t>Пример сырых данных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3EC53E2-9C4A-A9A7-2132-CD17B570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Сбор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1546F2-A152-9D87-6789-F28349220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53334"/>
            <a:ext cx="6096866" cy="38269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BFC618-9343-B079-4518-203F1FC78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633" y="2366963"/>
            <a:ext cx="3942431" cy="380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35E7-442C-FDDD-E341-2922AC13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4DA1C71A-7410-C1DA-6A5F-0DE4F8DB0D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8199" y="1928602"/>
            <a:ext cx="8958944" cy="424732"/>
          </a:xfrm>
        </p:spPr>
        <p:txBody>
          <a:bodyPr/>
          <a:lstStyle/>
          <a:p>
            <a:r>
              <a:rPr lang="ru-RU" dirty="0"/>
              <a:t>Пример сырых данных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66527363-546F-FD73-DACD-3445A2D7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Очистка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C1AAA8-48F9-79EF-3317-E5EEF2821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53334"/>
            <a:ext cx="10515600" cy="1584065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B19474F8-4DCC-6904-2391-8EC5C07B2497}"/>
              </a:ext>
            </a:extLst>
          </p:cNvPr>
          <p:cNvSpPr txBox="1">
            <a:spLocks/>
          </p:cNvSpPr>
          <p:nvPr/>
        </p:nvSpPr>
        <p:spPr>
          <a:xfrm>
            <a:off x="838199" y="4149765"/>
            <a:ext cx="8958944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Сортировка по номеру телефона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0E876D-858D-CBC9-7614-138F07481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74497"/>
            <a:ext cx="10515600" cy="8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5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sz="quarter" idx="22"/>
          </p:nvPr>
        </p:nvSpPr>
        <p:spPr>
          <a:xfrm>
            <a:off x="838199" y="1928602"/>
            <a:ext cx="8958944" cy="1089529"/>
          </a:xfrm>
        </p:spPr>
        <p:txBody>
          <a:bodyPr/>
          <a:lstStyle/>
          <a:p>
            <a:r>
              <a:rPr lang="ru-RU" dirty="0"/>
              <a:t>Агрегация и удаление дубликатов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3"/>
          </p:nvPr>
        </p:nvSpPr>
        <p:spPr>
          <a:xfrm>
            <a:off x="1361035" y="2473366"/>
            <a:ext cx="7276140" cy="2693045"/>
          </a:xfrm>
        </p:spPr>
        <p:txBody>
          <a:bodyPr/>
          <a:lstStyle/>
          <a:p>
            <a:r>
              <a:rPr lang="ru-RU" dirty="0"/>
              <a:t>Собранный набор данных имел множество пропусков </a:t>
            </a:r>
            <a:br>
              <a:rPr lang="ru-RU" dirty="0"/>
            </a:br>
            <a:r>
              <a:rPr lang="ru-RU" dirty="0"/>
              <a:t>и дубликатов. </a:t>
            </a:r>
          </a:p>
          <a:p>
            <a:r>
              <a:rPr lang="ru-RU" dirty="0"/>
              <a:t>Была проведена агрегация блоков данных по номеру телефона.</a:t>
            </a:r>
          </a:p>
          <a:p>
            <a:r>
              <a:rPr lang="ru-RU" dirty="0"/>
              <a:t>Оставшиеся элементы с пропусками были удалены</a:t>
            </a:r>
          </a:p>
          <a:p>
            <a:r>
              <a:rPr lang="ru-RU" dirty="0"/>
              <a:t>Набор данных уменьшился сначала с 8326 единиц</a:t>
            </a:r>
            <a:br>
              <a:rPr lang="ru-RU" dirty="0"/>
            </a:br>
            <a:r>
              <a:rPr lang="ru-RU" dirty="0"/>
              <a:t>до 2763 после агрегации, затем до 1891 единиц после</a:t>
            </a:r>
            <a:br>
              <a:rPr lang="ru-RU" dirty="0"/>
            </a:br>
            <a:r>
              <a:rPr lang="ru-RU" dirty="0"/>
              <a:t>удаления данных с пропусками</a:t>
            </a: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Очистка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93841C2-7468-CD9E-40B8-31B99C877F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34" y="2404210"/>
            <a:ext cx="318566" cy="52679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B717993-B866-A195-791D-5202FD80E9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170530" y="3165604"/>
            <a:ext cx="318566" cy="5267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97569FE-C519-B084-2C6C-4FEAA9DEDD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34" y="3747312"/>
            <a:ext cx="318566" cy="52679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31286BD-7867-30F9-3CE6-6ABDFADA20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170530" y="4447557"/>
            <a:ext cx="318566" cy="52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9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4616-D308-8D4D-669B-3C59A976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6202470-334D-3048-F813-E09DE1E3CF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90446" y="1613141"/>
            <a:ext cx="4863354" cy="757130"/>
          </a:xfrm>
        </p:spPr>
        <p:txBody>
          <a:bodyPr/>
          <a:lstStyle/>
          <a:p>
            <a:r>
              <a:rPr lang="ru-RU" dirty="0"/>
              <a:t>Изучение корреляции</a:t>
            </a:r>
            <a:br>
              <a:rPr lang="ru-RU" dirty="0"/>
            </a:br>
            <a:r>
              <a:rPr lang="ru-RU" dirty="0"/>
              <a:t>числовых признаков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06D0B89-B9D9-0799-F990-07477340E98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59064" y="2512734"/>
            <a:ext cx="3658720" cy="774571"/>
          </a:xfrm>
        </p:spPr>
        <p:txBody>
          <a:bodyPr/>
          <a:lstStyle/>
          <a:p>
            <a:r>
              <a:rPr lang="ru-RU" dirty="0"/>
              <a:t>Уволившихся 1155 человек</a:t>
            </a:r>
          </a:p>
          <a:p>
            <a:r>
              <a:rPr lang="ru-RU" dirty="0"/>
              <a:t>Оставшихся 736 человек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91EE7DF-0754-FD57-2626-12386133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Анализ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2CB9709-9A48-63AE-592E-2A3950689C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97" y="2403328"/>
            <a:ext cx="318566" cy="5267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CB613AA-48DB-6712-02E5-532B5CA0E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99217" y="2849933"/>
            <a:ext cx="318566" cy="52679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E65286-7C69-B7D9-8FD0-44647206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45" y="2370270"/>
            <a:ext cx="4723939" cy="3991975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BCA454A-5C2B-C716-AF34-A2ACD4C08BC8}"/>
              </a:ext>
            </a:extLst>
          </p:cNvPr>
          <p:cNvSpPr txBox="1">
            <a:spLocks/>
          </p:cNvSpPr>
          <p:nvPr/>
        </p:nvSpPr>
        <p:spPr>
          <a:xfrm>
            <a:off x="838200" y="1613141"/>
            <a:ext cx="4499004" cy="7571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Обнаружение дисбаланса классов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0AD6AE4F-4596-0FD2-27BB-A8A1710F7AFF}"/>
              </a:ext>
            </a:extLst>
          </p:cNvPr>
          <p:cNvSpPr txBox="1">
            <a:spLocks/>
          </p:cNvSpPr>
          <p:nvPr/>
        </p:nvSpPr>
        <p:spPr>
          <a:xfrm>
            <a:off x="1259064" y="4827475"/>
            <a:ext cx="3658720" cy="92333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 тестовых данных пропуски в поле </a:t>
            </a:r>
            <a:br>
              <a:rPr lang="ru-RU" dirty="0"/>
            </a:br>
            <a:r>
              <a:rPr lang="en-US" dirty="0"/>
              <a:t>«</a:t>
            </a:r>
            <a:r>
              <a:rPr lang="ru-RU" dirty="0"/>
              <a:t>подписаны документы</a:t>
            </a:r>
            <a:r>
              <a:rPr lang="en-US" dirty="0"/>
              <a:t>»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F665E2-13A9-613A-8DDA-C60F697247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97" y="4718069"/>
            <a:ext cx="318566" cy="5267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2B17AA-9977-77CE-4830-5312D5D54F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439934" y="5325589"/>
            <a:ext cx="318566" cy="526791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25D1E915-6D78-E2FC-E1CD-C0126CA59A45}"/>
              </a:ext>
            </a:extLst>
          </p:cNvPr>
          <p:cNvSpPr txBox="1">
            <a:spLocks/>
          </p:cNvSpPr>
          <p:nvPr/>
        </p:nvSpPr>
        <p:spPr>
          <a:xfrm>
            <a:off x="838200" y="3927882"/>
            <a:ext cx="4499004" cy="7571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Неполнота </a:t>
            </a:r>
            <a:br>
              <a:rPr lang="ru-RU" dirty="0"/>
            </a:br>
            <a:r>
              <a:rPr lang="ru-RU" dirty="0"/>
              <a:t>тестовых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766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4C69-2F07-251D-15A4-1B859E59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F8AB2B82-8162-9C38-F5CA-E3FD43AB4A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59064" y="2512734"/>
            <a:ext cx="6686227" cy="369332"/>
          </a:xfrm>
        </p:spPr>
        <p:txBody>
          <a:bodyPr/>
          <a:lstStyle/>
          <a:p>
            <a:r>
              <a:rPr lang="ru-RU" dirty="0"/>
              <a:t>Был применён </a:t>
            </a:r>
            <a:r>
              <a:rPr lang="en-US" dirty="0" err="1"/>
              <a:t>StandardScaler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389756F-E26C-C6F1-CABE-B815982F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Обработка данных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43D5525-980A-9F62-EC99-C6956D8CDF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97" y="2403328"/>
            <a:ext cx="318566" cy="5267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A418CFC-842A-088F-C49B-DA2A1E7E3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25998" y="2434004"/>
            <a:ext cx="318566" cy="526791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2409D42F-52E0-D617-61DE-C2995A8D13BD}"/>
              </a:ext>
            </a:extLst>
          </p:cNvPr>
          <p:cNvSpPr txBox="1">
            <a:spLocks/>
          </p:cNvSpPr>
          <p:nvPr/>
        </p:nvSpPr>
        <p:spPr>
          <a:xfrm>
            <a:off x="838199" y="1613141"/>
            <a:ext cx="724540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Обработка числовых признаков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99C40C8-4D74-F10C-C24E-A3E3A2D401CA}"/>
              </a:ext>
            </a:extLst>
          </p:cNvPr>
          <p:cNvSpPr txBox="1">
            <a:spLocks/>
          </p:cNvSpPr>
          <p:nvPr/>
        </p:nvSpPr>
        <p:spPr>
          <a:xfrm>
            <a:off x="1259064" y="4304573"/>
            <a:ext cx="735473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Были составлены списки уникальных значений категориальных признаков. </a:t>
            </a:r>
            <a:br>
              <a:rPr lang="ru-RU" dirty="0"/>
            </a:br>
            <a:r>
              <a:rPr lang="ru-RU" dirty="0"/>
              <a:t>Был применён </a:t>
            </a:r>
            <a:r>
              <a:rPr lang="en-US" dirty="0" err="1"/>
              <a:t>OrdinalEncoder</a:t>
            </a: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11BA50-AE52-0B48-5512-A92D368AF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533402"/>
            <a:ext cx="318566" cy="5267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762103-7F7D-AE1B-21DA-81AD53DD26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261411" y="4533401"/>
            <a:ext cx="318566" cy="526791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DF1FB718-98E9-75AC-E0B1-B3877B15F41C}"/>
              </a:ext>
            </a:extLst>
          </p:cNvPr>
          <p:cNvSpPr txBox="1">
            <a:spLocks/>
          </p:cNvSpPr>
          <p:nvPr/>
        </p:nvSpPr>
        <p:spPr>
          <a:xfrm>
            <a:off x="838199" y="3404980"/>
            <a:ext cx="9012731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Обработка категориальных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196990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D6FF-2BDD-ACEC-7202-509AF8E3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C66F6EEC-285B-FE22-4996-B156A96160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1699" y="2181518"/>
            <a:ext cx="4648599" cy="369332"/>
          </a:xfrm>
        </p:spPr>
        <p:txBody>
          <a:bodyPr/>
          <a:lstStyle/>
          <a:p>
            <a:r>
              <a:rPr lang="ru-RU" dirty="0"/>
              <a:t>Был удалён признак «Год рождения»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98BAEED-3864-AFE7-1073-86E05CDD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1089529"/>
          </a:xfrm>
        </p:spPr>
        <p:txBody>
          <a:bodyPr/>
          <a:lstStyle/>
          <a:p>
            <a:r>
              <a:rPr lang="ru-RU" dirty="0"/>
              <a:t>Отбор информативных признаков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8EFC2C1-ADCE-216D-84D2-285D10A0A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019" y="2102788"/>
            <a:ext cx="318566" cy="5267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43CBFB0-7EB4-4293-338A-191AE05E38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75598" y="2116232"/>
            <a:ext cx="318566" cy="526791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76EA240-E5CF-7CF7-01F5-F59CD1B3EDBE}"/>
              </a:ext>
            </a:extLst>
          </p:cNvPr>
          <p:cNvSpPr txBox="1">
            <a:spLocks/>
          </p:cNvSpPr>
          <p:nvPr/>
        </p:nvSpPr>
        <p:spPr>
          <a:xfrm>
            <a:off x="3467099" y="1589607"/>
            <a:ext cx="5257801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Корреляционный отбор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EA450516-8C5F-05EF-CFD9-0CFB0ABCA2FD}"/>
              </a:ext>
            </a:extLst>
          </p:cNvPr>
          <p:cNvSpPr txBox="1">
            <a:spLocks/>
          </p:cNvSpPr>
          <p:nvPr/>
        </p:nvSpPr>
        <p:spPr>
          <a:xfrm>
            <a:off x="2088312" y="2849709"/>
            <a:ext cx="2204677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Catboost</a:t>
            </a:r>
            <a:endParaRPr lang="ru-RU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B5EE7426-E502-5BF5-9446-495F149E9EA4}"/>
              </a:ext>
            </a:extLst>
          </p:cNvPr>
          <p:cNvSpPr txBox="1">
            <a:spLocks/>
          </p:cNvSpPr>
          <p:nvPr/>
        </p:nvSpPr>
        <p:spPr>
          <a:xfrm>
            <a:off x="7910217" y="2845385"/>
            <a:ext cx="2204677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Boruta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B15672-0C59-E90E-4267-35C6C7037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56212"/>
            <a:ext cx="4704903" cy="310603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C7DBBF4-3543-001D-8D00-566BC7396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642" y="3472479"/>
            <a:ext cx="2041826" cy="2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5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7680-80FA-E43B-C2D5-4E7330B8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F5A442A3-ACAC-233D-841C-7674381722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77069" y="2476781"/>
            <a:ext cx="6686227" cy="369332"/>
          </a:xfrm>
        </p:spPr>
        <p:txBody>
          <a:bodyPr/>
          <a:lstStyle/>
          <a:p>
            <a:r>
              <a:rPr lang="ru-RU" dirty="0"/>
              <a:t>Был применён </a:t>
            </a:r>
            <a:r>
              <a:rPr lang="en-US" dirty="0" err="1"/>
              <a:t>Hyperopt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D8EDAF5D-9A46-921F-9D15-D54557B6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Самое результативное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951EDBA-EE9E-DC76-2272-1243EBDD38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97" y="2403328"/>
            <a:ext cx="318566" cy="5267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21D9F61-887B-295B-293D-FCF4903FE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01617" y="2434004"/>
            <a:ext cx="318566" cy="526791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2DF6F9B2-9502-94B1-1199-29D7222E2E4E}"/>
              </a:ext>
            </a:extLst>
          </p:cNvPr>
          <p:cNvSpPr txBox="1">
            <a:spLocks/>
          </p:cNvSpPr>
          <p:nvPr/>
        </p:nvSpPr>
        <p:spPr>
          <a:xfrm>
            <a:off x="838199" y="1613141"/>
            <a:ext cx="724540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Подбор </a:t>
            </a:r>
            <a:r>
              <a:rPr lang="ru-RU" dirty="0" err="1"/>
              <a:t>гиперпараметров</a:t>
            </a:r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8A1D1148-2EFF-6C3D-75D5-F846AF69BAD2}"/>
              </a:ext>
            </a:extLst>
          </p:cNvPr>
          <p:cNvSpPr txBox="1">
            <a:spLocks/>
          </p:cNvSpPr>
          <p:nvPr/>
        </p:nvSpPr>
        <p:spPr>
          <a:xfrm>
            <a:off x="1253222" y="4273896"/>
            <a:ext cx="7354738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Был применён </a:t>
            </a:r>
            <a:r>
              <a:rPr lang="en-US" dirty="0" err="1"/>
              <a:t>RandomUnderSampling</a:t>
            </a:r>
            <a:br>
              <a:rPr lang="ru-RU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E1C8A1-910D-E2B9-9033-97FD31255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56" y="4200024"/>
            <a:ext cx="318566" cy="5267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14FD71-729C-56ED-2350-8670394546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936717" y="4213220"/>
            <a:ext cx="318566" cy="526791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F32B3100-E244-0F07-12FC-70005F0B7509}"/>
              </a:ext>
            </a:extLst>
          </p:cNvPr>
          <p:cNvSpPr txBox="1">
            <a:spLocks/>
          </p:cNvSpPr>
          <p:nvPr/>
        </p:nvSpPr>
        <p:spPr>
          <a:xfrm>
            <a:off x="838199" y="3404980"/>
            <a:ext cx="9012731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Ликвидация дисбаланса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305073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0CA0-91EB-EE6D-6C2E-686C4EA4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83E330B-D7C1-E7E1-FA98-695C7B29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Модели и их результат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A5360A46-3816-CFC6-652E-9A95552E65FC}"/>
              </a:ext>
            </a:extLst>
          </p:cNvPr>
          <p:cNvSpPr txBox="1">
            <a:spLocks/>
          </p:cNvSpPr>
          <p:nvPr/>
        </p:nvSpPr>
        <p:spPr>
          <a:xfrm>
            <a:off x="838200" y="1639287"/>
            <a:ext cx="10515600" cy="7571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Таблица результатов моделей и методики обработки набора данных 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5C6BD54-459B-BEF0-58A7-8DAFE0BDD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26287"/>
              </p:ext>
            </p:extLst>
          </p:nvPr>
        </p:nvGraphicFramePr>
        <p:xfrm>
          <a:off x="838200" y="2017852"/>
          <a:ext cx="10523774" cy="3484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9474">
                  <a:extLst>
                    <a:ext uri="{9D8B030D-6E8A-4147-A177-3AD203B41FA5}">
                      <a16:colId xmlns:a16="http://schemas.microsoft.com/office/drawing/2014/main" val="1658346168"/>
                    </a:ext>
                  </a:extLst>
                </a:gridCol>
                <a:gridCol w="2032009">
                  <a:extLst>
                    <a:ext uri="{9D8B030D-6E8A-4147-A177-3AD203B41FA5}">
                      <a16:colId xmlns:a16="http://schemas.microsoft.com/office/drawing/2014/main" val="1144703366"/>
                    </a:ext>
                  </a:extLst>
                </a:gridCol>
                <a:gridCol w="5678501">
                  <a:extLst>
                    <a:ext uri="{9D8B030D-6E8A-4147-A177-3AD203B41FA5}">
                      <a16:colId xmlns:a16="http://schemas.microsoft.com/office/drawing/2014/main" val="2525924615"/>
                    </a:ext>
                  </a:extLst>
                </a:gridCol>
                <a:gridCol w="1103790">
                  <a:extLst>
                    <a:ext uri="{9D8B030D-6E8A-4147-A177-3AD203B41FA5}">
                      <a16:colId xmlns:a16="http://schemas.microsoft.com/office/drawing/2014/main" val="4146629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Номер опыта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Методика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2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CatBoost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Стандартизация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90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CatBoost</a:t>
                      </a:r>
                      <a:r>
                        <a:rPr lang="ru-RU" sz="1400" dirty="0"/>
                        <a:t> + </a:t>
                      </a:r>
                      <a:r>
                        <a:rPr lang="en-US" sz="1400" dirty="0" err="1"/>
                        <a:t>XGBoost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Стандартизация и усечение признаков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569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CatBoost</a:t>
                      </a:r>
                      <a:r>
                        <a:rPr lang="ru-RU" sz="1400" dirty="0"/>
                        <a:t> + </a:t>
                      </a:r>
                      <a:r>
                        <a:rPr lang="en-US" sz="1400" dirty="0" err="1"/>
                        <a:t>XGBoost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Стандартизация, усечение признаков и </a:t>
                      </a:r>
                      <a:r>
                        <a:rPr lang="en-US" sz="1400" dirty="0"/>
                        <a:t>One Hot Encoder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922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CatBoost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Стандартизация, усечение признаков и подбор </a:t>
                      </a:r>
                      <a:r>
                        <a:rPr lang="ru-RU" sz="1400" dirty="0" err="1"/>
                        <a:t>гиперпараметров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121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CatBoost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Стандартизация и подбор </a:t>
                      </a:r>
                      <a:r>
                        <a:rPr lang="ru-RU" sz="1400" dirty="0" err="1"/>
                        <a:t>гиперпараметров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52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CatBoost</a:t>
                      </a:r>
                      <a:r>
                        <a:rPr lang="ru-RU" sz="1400" dirty="0"/>
                        <a:t> + </a:t>
                      </a:r>
                      <a:r>
                        <a:rPr lang="en-US" sz="1400" dirty="0" err="1"/>
                        <a:t>XGBoost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Стандартизация и подбор </a:t>
                      </a:r>
                      <a:r>
                        <a:rPr lang="ru-RU" sz="1400" dirty="0" err="1"/>
                        <a:t>гиперпараметров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6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/>
                        <a:t>CatBoost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1" dirty="0"/>
                        <a:t>Стандартизация, </a:t>
                      </a:r>
                      <a:r>
                        <a:rPr lang="ru-RU" sz="1400" b="1" dirty="0" err="1"/>
                        <a:t>андер</a:t>
                      </a:r>
                      <a:r>
                        <a:rPr lang="en-US" sz="1400" b="1" dirty="0"/>
                        <a:t>c</a:t>
                      </a:r>
                      <a:r>
                        <a:rPr lang="ru-RU" sz="1400" b="1" dirty="0" err="1"/>
                        <a:t>эмплинг</a:t>
                      </a:r>
                      <a:endParaRPr lang="ru-RU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89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CatBoost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Стандартизация, </a:t>
                      </a:r>
                      <a:r>
                        <a:rPr lang="ru-RU" sz="1400" dirty="0" err="1"/>
                        <a:t>андер</a:t>
                      </a:r>
                      <a:r>
                        <a:rPr lang="en-US" sz="1400" dirty="0"/>
                        <a:t>c</a:t>
                      </a:r>
                      <a:r>
                        <a:rPr lang="ru-RU" sz="1400" dirty="0" err="1"/>
                        <a:t>эмплинг</a:t>
                      </a:r>
                      <a:r>
                        <a:rPr lang="ru-RU" sz="1400" dirty="0"/>
                        <a:t> и усечение признаков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6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12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76633-80D7-DC01-F8BE-FF5E52B9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05CBA7B-C29D-3384-A935-1B923004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 err="1"/>
              <a:t>Инференс</a:t>
            </a:r>
            <a:r>
              <a:rPr lang="ru-RU" dirty="0"/>
              <a:t> 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3785AA46-742C-12FC-236A-B96111F94FDB}"/>
              </a:ext>
            </a:extLst>
          </p:cNvPr>
          <p:cNvSpPr txBox="1">
            <a:spLocks/>
          </p:cNvSpPr>
          <p:nvPr/>
        </p:nvSpPr>
        <p:spPr>
          <a:xfrm>
            <a:off x="838200" y="1639287"/>
            <a:ext cx="10515600" cy="213904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Подключение к веб сайту</a:t>
            </a:r>
            <a:r>
              <a:rPr lang="en-US" dirty="0"/>
              <a:t>:</a:t>
            </a:r>
          </a:p>
          <a:p>
            <a:r>
              <a:rPr lang="ru-RU" dirty="0"/>
              <a:t>Вайфай сеть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iPhone </a:t>
            </a:r>
            <a:r>
              <a:rPr lang="en-US" dirty="0" err="1"/>
              <a:t>kiryu</a:t>
            </a:r>
            <a:r>
              <a:rPr lang="en-US" dirty="0"/>
              <a:t> </a:t>
            </a:r>
            <a:r>
              <a:rPr lang="ru-RU" dirty="0"/>
              <a:t>Пароль</a:t>
            </a:r>
            <a:r>
              <a:rPr lang="en-US" dirty="0"/>
              <a:t>:1234567890</a:t>
            </a:r>
            <a:br>
              <a:rPr lang="en-US" dirty="0"/>
            </a:br>
            <a:r>
              <a:rPr lang="en-US" dirty="0"/>
              <a:t>URL: https://172</a:t>
            </a:r>
            <a:r>
              <a:rPr lang="ru-RU" dirty="0"/>
              <a:t>.20.10.2</a:t>
            </a:r>
            <a:r>
              <a:rPr lang="en-US" dirty="0"/>
              <a:t>:8000/Data</a:t>
            </a:r>
            <a:endParaRPr lang="ru-RU" dirty="0"/>
          </a:p>
          <a:p>
            <a:r>
              <a:rPr lang="en-US" dirty="0"/>
              <a:t>URL: https://172</a:t>
            </a:r>
            <a:r>
              <a:rPr lang="ru-RU" dirty="0"/>
              <a:t>.20.10.2</a:t>
            </a:r>
            <a:r>
              <a:rPr lang="en-US" dirty="0"/>
              <a:t>:8000/</a:t>
            </a:r>
            <a:r>
              <a:rPr lang="en-US" dirty="0" err="1"/>
              <a:t>ABTest</a:t>
            </a:r>
            <a:endParaRPr lang="en-US" dirty="0"/>
          </a:p>
          <a:p>
            <a:r>
              <a:rPr lang="en-US" dirty="0"/>
              <a:t>URL: https://172</a:t>
            </a:r>
            <a:r>
              <a:rPr lang="ru-RU" dirty="0"/>
              <a:t>.20.10.2</a:t>
            </a:r>
            <a:r>
              <a:rPr lang="en-US" dirty="0"/>
              <a:t>:8000/</a:t>
            </a:r>
            <a:endParaRPr lang="ru-RU" b="1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3F2600-54B9-40FA-9E52-90E5A1E9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815" y="4190175"/>
            <a:ext cx="1400370" cy="13146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E0D17F-BB71-4B2D-99E7-211C3CD23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3964"/>
            <a:ext cx="1438476" cy="13908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9A6D6C-BDDC-4C3D-8427-D39F2FB24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324" y="4190175"/>
            <a:ext cx="1438476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38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897C-4368-2453-12B4-14112009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0A2FCBD-6FF8-BA1B-70AE-AFBB6D76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 err="1"/>
              <a:t>Инференс</a:t>
            </a:r>
            <a:endParaRPr lang="ru-RU" dirty="0"/>
          </a:p>
        </p:txBody>
      </p:sp>
      <p:pic>
        <p:nvPicPr>
          <p:cNvPr id="1026" name="Picture 2" descr="Установка Docker и Docker Compose в AlmaLinux 9 - VirtualDC">
            <a:extLst>
              <a:ext uri="{FF2B5EF4-FFF2-40B4-BE49-F238E27FC236}">
                <a16:creationId xmlns:a16="http://schemas.microsoft.com/office/drawing/2014/main" id="{E5A748E0-3439-FCA3-A364-F5431C8ED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523" y="393972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урсы Django онлайн c нуля до специалиста в 2023">
            <a:extLst>
              <a:ext uri="{FF2B5EF4-FFF2-40B4-BE49-F238E27FC236}">
                <a16:creationId xmlns:a16="http://schemas.microsoft.com/office/drawing/2014/main" id="{A19F7FF2-137F-0BB4-0195-1E8C192A9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545" y="3939724"/>
            <a:ext cx="1636524" cy="163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tBoost — Википедия">
            <a:extLst>
              <a:ext uri="{FF2B5EF4-FFF2-40B4-BE49-F238E27FC236}">
                <a16:creationId xmlns:a16="http://schemas.microsoft.com/office/drawing/2014/main" id="{08BF00DC-3B8C-81B1-4AA9-ECE2B7C1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717" y="3986809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ser Images - Free Download on Freepik">
            <a:extLst>
              <a:ext uri="{FF2B5EF4-FFF2-40B4-BE49-F238E27FC236}">
                <a16:creationId xmlns:a16="http://schemas.microsoft.com/office/drawing/2014/main" id="{AFA867A9-7923-C9E4-E281-43B0BD9E8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63" y="3804288"/>
            <a:ext cx="1871072" cy="187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Система управления реляционными базами данных SQLite | Технологии">
            <a:extLst>
              <a:ext uri="{FF2B5EF4-FFF2-40B4-BE49-F238E27FC236}">
                <a16:creationId xmlns:a16="http://schemas.microsoft.com/office/drawing/2014/main" id="{2E82989C-8E0E-D9B8-33E0-614E51FA6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0717" y="1585283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трелка: изогнутая вверх 2">
            <a:extLst>
              <a:ext uri="{FF2B5EF4-FFF2-40B4-BE49-F238E27FC236}">
                <a16:creationId xmlns:a16="http://schemas.microsoft.com/office/drawing/2014/main" id="{87AD2EA3-E4FF-0AA8-5951-7C7A9D61176B}"/>
              </a:ext>
            </a:extLst>
          </p:cNvPr>
          <p:cNvSpPr/>
          <p:nvPr/>
        </p:nvSpPr>
        <p:spPr>
          <a:xfrm>
            <a:off x="2014780" y="5472709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Стрелка: изогнутая вверх 3">
            <a:extLst>
              <a:ext uri="{FF2B5EF4-FFF2-40B4-BE49-F238E27FC236}">
                <a16:creationId xmlns:a16="http://schemas.microsoft.com/office/drawing/2014/main" id="{2501E173-4328-FB67-D9BB-28188B7711BF}"/>
              </a:ext>
            </a:extLst>
          </p:cNvPr>
          <p:cNvSpPr/>
          <p:nvPr/>
        </p:nvSpPr>
        <p:spPr>
          <a:xfrm>
            <a:off x="4817390" y="5506317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Стрелка: изогнутая вверх 4">
            <a:extLst>
              <a:ext uri="{FF2B5EF4-FFF2-40B4-BE49-F238E27FC236}">
                <a16:creationId xmlns:a16="http://schemas.microsoft.com/office/drawing/2014/main" id="{6CFFC028-3961-3890-1F48-C8E79E478F6B}"/>
              </a:ext>
            </a:extLst>
          </p:cNvPr>
          <p:cNvSpPr/>
          <p:nvPr/>
        </p:nvSpPr>
        <p:spPr>
          <a:xfrm>
            <a:off x="7620000" y="5490203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Стрелка: изогнутая вверх 6">
            <a:extLst>
              <a:ext uri="{FF2B5EF4-FFF2-40B4-BE49-F238E27FC236}">
                <a16:creationId xmlns:a16="http://schemas.microsoft.com/office/drawing/2014/main" id="{9EFAF491-15F1-5C79-41CD-753D400697E4}"/>
              </a:ext>
            </a:extLst>
          </p:cNvPr>
          <p:cNvSpPr/>
          <p:nvPr/>
        </p:nvSpPr>
        <p:spPr>
          <a:xfrm rot="10800000">
            <a:off x="4722138" y="3429001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Стрелка: изогнутая вверх 7">
            <a:extLst>
              <a:ext uri="{FF2B5EF4-FFF2-40B4-BE49-F238E27FC236}">
                <a16:creationId xmlns:a16="http://schemas.microsoft.com/office/drawing/2014/main" id="{A0DC8953-10C8-9AB1-2131-13A535AD17D6}"/>
              </a:ext>
            </a:extLst>
          </p:cNvPr>
          <p:cNvSpPr/>
          <p:nvPr/>
        </p:nvSpPr>
        <p:spPr>
          <a:xfrm rot="10800000">
            <a:off x="1907986" y="3429000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4A65272E-F572-6A71-4C8C-43D4828A1355}"/>
              </a:ext>
            </a:extLst>
          </p:cNvPr>
          <p:cNvSpPr txBox="1">
            <a:spLocks/>
          </p:cNvSpPr>
          <p:nvPr/>
        </p:nvSpPr>
        <p:spPr>
          <a:xfrm>
            <a:off x="2741478" y="5625916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Данные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D9894976-F73B-C293-557B-7F06788D459E}"/>
              </a:ext>
            </a:extLst>
          </p:cNvPr>
          <p:cNvSpPr txBox="1">
            <a:spLocks/>
          </p:cNvSpPr>
          <p:nvPr/>
        </p:nvSpPr>
        <p:spPr>
          <a:xfrm>
            <a:off x="5598979" y="5632433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Данные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57976416-975D-0ECB-6635-9393D971A42D}"/>
              </a:ext>
            </a:extLst>
          </p:cNvPr>
          <p:cNvSpPr txBox="1">
            <a:spLocks/>
          </p:cNvSpPr>
          <p:nvPr/>
        </p:nvSpPr>
        <p:spPr>
          <a:xfrm>
            <a:off x="8441411" y="5638908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Данные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D4F396D0-450C-1C0A-F5D8-E3AB6D74D17A}"/>
              </a:ext>
            </a:extLst>
          </p:cNvPr>
          <p:cNvSpPr txBox="1">
            <a:spLocks/>
          </p:cNvSpPr>
          <p:nvPr/>
        </p:nvSpPr>
        <p:spPr>
          <a:xfrm>
            <a:off x="8542067" y="3453862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Ответ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52339DA0-0DB4-48A2-C744-6C90999BA9C1}"/>
              </a:ext>
            </a:extLst>
          </p:cNvPr>
          <p:cNvSpPr txBox="1">
            <a:spLocks/>
          </p:cNvSpPr>
          <p:nvPr/>
        </p:nvSpPr>
        <p:spPr>
          <a:xfrm>
            <a:off x="5764238" y="3416008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Ответ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08CDE77B-F370-266D-7B0A-A2F9B8737850}"/>
              </a:ext>
            </a:extLst>
          </p:cNvPr>
          <p:cNvSpPr txBox="1">
            <a:spLocks/>
          </p:cNvSpPr>
          <p:nvPr/>
        </p:nvSpPr>
        <p:spPr>
          <a:xfrm>
            <a:off x="2922859" y="3429000"/>
            <a:ext cx="126956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Ответ</a:t>
            </a:r>
          </a:p>
        </p:txBody>
      </p:sp>
      <p:sp>
        <p:nvSpPr>
          <p:cNvPr id="19" name="Стрелка: изогнутая 18">
            <a:extLst>
              <a:ext uri="{FF2B5EF4-FFF2-40B4-BE49-F238E27FC236}">
                <a16:creationId xmlns:a16="http://schemas.microsoft.com/office/drawing/2014/main" id="{A6FD599C-593E-ED56-83D8-7993E7C35AE5}"/>
              </a:ext>
            </a:extLst>
          </p:cNvPr>
          <p:cNvSpPr/>
          <p:nvPr/>
        </p:nvSpPr>
        <p:spPr>
          <a:xfrm>
            <a:off x="7543316" y="2242070"/>
            <a:ext cx="2268320" cy="1777862"/>
          </a:xfrm>
          <a:prstGeom prst="bentArrow">
            <a:avLst>
              <a:gd name="adj1" fmla="val 6708"/>
              <a:gd name="adj2" fmla="val 6033"/>
              <a:gd name="adj3" fmla="val 11373"/>
              <a:gd name="adj4" fmla="val 43750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7BB126F8-E7F2-5C63-5197-D28FA3F0EF9D}"/>
              </a:ext>
            </a:extLst>
          </p:cNvPr>
          <p:cNvSpPr txBox="1">
            <a:spLocks/>
          </p:cNvSpPr>
          <p:nvPr/>
        </p:nvSpPr>
        <p:spPr>
          <a:xfrm>
            <a:off x="7543316" y="1833110"/>
            <a:ext cx="226832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225B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Данные и ответ</a:t>
            </a:r>
          </a:p>
        </p:txBody>
      </p:sp>
      <p:sp>
        <p:nvSpPr>
          <p:cNvPr id="6" name="Стрелка: изогнутая вверх 5">
            <a:extLst>
              <a:ext uri="{FF2B5EF4-FFF2-40B4-BE49-F238E27FC236}">
                <a16:creationId xmlns:a16="http://schemas.microsoft.com/office/drawing/2014/main" id="{0572A93E-FD7A-97B5-1A8F-BFB63A10472A}"/>
              </a:ext>
            </a:extLst>
          </p:cNvPr>
          <p:cNvSpPr/>
          <p:nvPr/>
        </p:nvSpPr>
        <p:spPr>
          <a:xfrm rot="10800000">
            <a:off x="7543316" y="3453862"/>
            <a:ext cx="2857501" cy="590931"/>
          </a:xfrm>
          <a:prstGeom prst="curved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23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4032-9A5F-4455-6D94-0D28B455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EC8C2C5-03FF-7CCF-875F-C63A61F5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Веб страница с юзер интерфейсом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3C48B0-113A-4E00-5207-168FCF1F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771981"/>
            <a:ext cx="6325496" cy="43091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6DF917-CB18-FA69-6D59-5EFF3AC31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507" y="1771981"/>
            <a:ext cx="3412268" cy="438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9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E947-4BF6-7B6F-03BC-36DBF225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EF9FD9F-6810-0D99-307C-B75288D4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en-US" dirty="0"/>
              <a:t>REST API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46CDF8-D01E-19E8-68D6-5162CC33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003" y="1549178"/>
            <a:ext cx="2784155" cy="46843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268BBC-544E-EF9F-AEE9-383B3176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43" y="1549178"/>
            <a:ext cx="3009817" cy="481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07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F04C-7D65-1310-27A9-17CEE0E0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42F1B8F-4F6A-13B8-AEAB-E05F1B95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4"/>
            <a:ext cx="10515600" cy="590931"/>
          </a:xfrm>
        </p:spPr>
        <p:txBody>
          <a:bodyPr/>
          <a:lstStyle/>
          <a:p>
            <a:r>
              <a:rPr lang="ru-RU" dirty="0"/>
              <a:t>Подготовка к </a:t>
            </a:r>
            <a:r>
              <a:rPr lang="en-US" dirty="0"/>
              <a:t>A/B </a:t>
            </a:r>
            <a:r>
              <a:rPr lang="ru-RU" dirty="0"/>
              <a:t>Тестам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EE6FF5-128A-60FE-C55B-BC8AB21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98" y="2025350"/>
            <a:ext cx="3075764" cy="433689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F4297D-DF06-EC1A-7260-656CD0A24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814" y="2025350"/>
            <a:ext cx="3073447" cy="433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47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7274-B233-EC74-33BE-04918FAC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184FE-35E9-B8CB-48A6-471B3631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Контактная информация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EABF46-E68E-A4F4-5C4F-8BB1C4E024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Почта</a:t>
            </a:r>
            <a:r>
              <a:rPr lang="en-US" dirty="0"/>
              <a:t>: KirillGribkov2001@yandex.ru</a:t>
            </a:r>
          </a:p>
          <a:p>
            <a:r>
              <a:rPr lang="ru-RU" dirty="0"/>
              <a:t>Телефон</a:t>
            </a:r>
            <a:r>
              <a:rPr lang="en-US" dirty="0"/>
              <a:t>: 8 (905) 089 88 33 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B820CB-46BB-F51B-0189-DBB13EC0C0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4058" y="4875494"/>
            <a:ext cx="5827699" cy="376238"/>
          </a:xfrm>
        </p:spPr>
        <p:txBody>
          <a:bodyPr/>
          <a:lstStyle/>
          <a:p>
            <a:r>
              <a:rPr lang="ru-RU" dirty="0"/>
              <a:t>Грибков Кирилл Александрович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F251C4-7788-4A66-0FDE-6B8C6A707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Студент второго курса магистратуры</a:t>
            </a:r>
            <a:br>
              <a:rPr lang="ru-RU" dirty="0"/>
            </a:br>
            <a:r>
              <a:rPr lang="ru-RU" dirty="0"/>
              <a:t>Томского Государственного Университета Систем Управления и Радиоэлектроники </a:t>
            </a:r>
            <a:br>
              <a:rPr lang="ru-RU" dirty="0"/>
            </a:br>
            <a:r>
              <a:rPr lang="ru-RU" dirty="0"/>
              <a:t>г. Томск </a:t>
            </a:r>
          </a:p>
        </p:txBody>
      </p:sp>
    </p:spTree>
    <p:extLst>
      <p:ext uri="{BB962C8B-B14F-4D97-AF65-F5344CB8AC3E}">
        <p14:creationId xmlns:p14="http://schemas.microsoft.com/office/powerpoint/2010/main" val="13330161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Другая 2">
      <a:majorFont>
        <a:latin typeface="RF Dewi Expanded Black"/>
        <a:ea typeface=""/>
        <a:cs typeface=""/>
      </a:majorFont>
      <a:minorFont>
        <a:latin typeface="Robot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C37CD20725F9B4B95DDDD522A892CE1" ma:contentTypeVersion="15" ma:contentTypeDescription="Создание документа." ma:contentTypeScope="" ma:versionID="e370ef7782074ac47e4f0c613eebe409">
  <xsd:schema xmlns:xsd="http://www.w3.org/2001/XMLSchema" xmlns:xs="http://www.w3.org/2001/XMLSchema" xmlns:p="http://schemas.microsoft.com/office/2006/metadata/properties" xmlns:ns3="b17b855b-d436-4490-9d5a-52eeedd3f2dd" xmlns:ns4="e602f305-c3c8-4baf-9d09-124004b650bb" targetNamespace="http://schemas.microsoft.com/office/2006/metadata/properties" ma:root="true" ma:fieldsID="5a0d75981d7dc855376156c28782d655" ns3:_="" ns4:_="">
    <xsd:import namespace="b17b855b-d436-4490-9d5a-52eeedd3f2dd"/>
    <xsd:import namespace="e602f305-c3c8-4baf-9d09-124004b650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b855b-d436-4490-9d5a-52eeedd3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2f305-c3c8-4baf-9d09-124004b650b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Хэш подсказки о совместном доступе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7b855b-d436-4490-9d5a-52eeedd3f2dd" xsi:nil="true"/>
  </documentManagement>
</p:properties>
</file>

<file path=customXml/itemProps1.xml><?xml version="1.0" encoding="utf-8"?>
<ds:datastoreItem xmlns:ds="http://schemas.openxmlformats.org/officeDocument/2006/customXml" ds:itemID="{6826C36A-C852-46CC-BF5D-842485DF7D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7b855b-d436-4490-9d5a-52eeedd3f2dd"/>
    <ds:schemaRef ds:uri="e602f305-c3c8-4baf-9d09-124004b650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B55BE5-14AA-43C9-8245-6E4DB0E9BA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5B7B8-894C-497C-B483-B16BD71490BC}">
  <ds:schemaRefs>
    <ds:schemaRef ds:uri="http://schemas.microsoft.com/office/2006/documentManagement/types"/>
    <ds:schemaRef ds:uri="e602f305-c3c8-4baf-9d09-124004b650bb"/>
    <ds:schemaRef ds:uri="http://purl.org/dc/elements/1.1/"/>
    <ds:schemaRef ds:uri="http://purl.org/dc/terms/"/>
    <ds:schemaRef ds:uri="b17b855b-d436-4490-9d5a-52eeedd3f2dd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11571</TotalTime>
  <Words>293</Words>
  <Application>Microsoft Office PowerPoint</Application>
  <PresentationFormat>Широкоэкранный</PresentationFormat>
  <Paragraphs>111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RF Dewi Expanded Black</vt:lpstr>
      <vt:lpstr>Calibri</vt:lpstr>
      <vt:lpstr>Roboto</vt:lpstr>
      <vt:lpstr>Тема Office</vt:lpstr>
      <vt:lpstr>ML: Путь от задачи до MVP</vt:lpstr>
      <vt:lpstr>Сбор, анализ и обработка набора данных</vt:lpstr>
      <vt:lpstr>Сбор данных</vt:lpstr>
      <vt:lpstr>Очистка данных</vt:lpstr>
      <vt:lpstr>Очистка данных</vt:lpstr>
      <vt:lpstr>Анализ данных</vt:lpstr>
      <vt:lpstr>Обработка данных</vt:lpstr>
      <vt:lpstr>Отбор информативных признаков</vt:lpstr>
      <vt:lpstr>Самое результативное</vt:lpstr>
      <vt:lpstr>Модели и их результат</vt:lpstr>
      <vt:lpstr>Инференс </vt:lpstr>
      <vt:lpstr>Инференс</vt:lpstr>
      <vt:lpstr>Веб страница с юзер интерфейсом</vt:lpstr>
      <vt:lpstr>REST API</vt:lpstr>
      <vt:lpstr>Подготовка к A/B Тестам</vt:lpstr>
      <vt:lpstr>Контактная информация</vt:lpstr>
    </vt:vector>
  </TitlesOfParts>
  <Company>ГК ЦФТ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1 уровня</dc:title>
  <dc:creator>CFTUser</dc:creator>
  <cp:lastModifiedBy>123</cp:lastModifiedBy>
  <cp:revision>399</cp:revision>
  <dcterms:created xsi:type="dcterms:W3CDTF">2021-01-14T09:51:34Z</dcterms:created>
  <dcterms:modified xsi:type="dcterms:W3CDTF">2026-02-01T04:40:19Z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0x0101005C37CD20725F9B4B95DDDD522A892CE1</vt:lpwstr>
  </property>
</Properties>
</file>